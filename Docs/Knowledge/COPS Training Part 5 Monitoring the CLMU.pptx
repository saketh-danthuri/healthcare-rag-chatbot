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7A7B2-636B-40ED-AC17-2036F8F373C8}" v="1" dt="2022-02-17T19:02:41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sa" userId="9ebf8891-a6d6-4481-9472-9e650503fffd" providerId="ADAL" clId="{5D07A7B2-636B-40ED-AC17-2036F8F373C8}"/>
    <pc:docChg chg="custSel addSld delSld modSld">
      <pc:chgData name="Rissa" userId="9ebf8891-a6d6-4481-9472-9e650503fffd" providerId="ADAL" clId="{5D07A7B2-636B-40ED-AC17-2036F8F373C8}" dt="2022-02-17T19:02:58.589" v="190" actId="1076"/>
      <pc:docMkLst>
        <pc:docMk/>
      </pc:docMkLst>
      <pc:sldChg chg="addSp modSp mod setBg">
        <pc:chgData name="Rissa" userId="9ebf8891-a6d6-4481-9472-9e650503fffd" providerId="ADAL" clId="{5D07A7B2-636B-40ED-AC17-2036F8F373C8}" dt="2022-02-17T18:43:51.065" v="45" actId="26606"/>
        <pc:sldMkLst>
          <pc:docMk/>
          <pc:sldMk cId="2060427088" sldId="256"/>
        </pc:sldMkLst>
        <pc:spChg chg="mo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2" creationId="{1E4C39BC-6E5C-4553-BC37-9AFB4E587BDD}"/>
          </ac:spMkLst>
        </pc:spChg>
        <pc:spChg chg="mo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3" creationId="{BD49B1BB-10DE-4FD9-9BF3-1A1AECE8834B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8" creationId="{458C1BCA-247F-4480-B78C-924FEBA5CD65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0" creationId="{B8E37057-BDB6-4452-836A-27973D54F2D8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2" creationId="{11A3A707-72D6-4BAB-8187-F8204F4EDC6B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4" creationId="{C983411D-901F-4574-9926-33415AA921FF}"/>
          </ac:spMkLst>
        </pc:spChg>
      </pc:sldChg>
      <pc:sldChg chg="addSp modSp new mod">
        <pc:chgData name="Rissa" userId="9ebf8891-a6d6-4481-9472-9e650503fffd" providerId="ADAL" clId="{5D07A7B2-636B-40ED-AC17-2036F8F373C8}" dt="2022-02-17T19:02:58.589" v="190" actId="1076"/>
        <pc:sldMkLst>
          <pc:docMk/>
          <pc:sldMk cId="3294251022" sldId="257"/>
        </pc:sldMkLst>
        <pc:spChg chg="mod">
          <ac:chgData name="Rissa" userId="9ebf8891-a6d6-4481-9472-9e650503fffd" providerId="ADAL" clId="{5D07A7B2-636B-40ED-AC17-2036F8F373C8}" dt="2022-02-17T19:00:45.797" v="54" actId="20577"/>
          <ac:spMkLst>
            <pc:docMk/>
            <pc:sldMk cId="3294251022" sldId="257"/>
            <ac:spMk id="2" creationId="{F33A4922-A9C3-4F97-8460-6FFA29B874DA}"/>
          </ac:spMkLst>
        </pc:spChg>
        <pc:spChg chg="mod">
          <ac:chgData name="Rissa" userId="9ebf8891-a6d6-4481-9472-9e650503fffd" providerId="ADAL" clId="{5D07A7B2-636B-40ED-AC17-2036F8F373C8}" dt="2022-02-17T19:02:41.499" v="186" actId="20577"/>
          <ac:spMkLst>
            <pc:docMk/>
            <pc:sldMk cId="3294251022" sldId="257"/>
            <ac:spMk id="3" creationId="{528E68B7-68FB-4381-8755-6829E5A26B01}"/>
          </ac:spMkLst>
        </pc:spChg>
        <pc:picChg chg="add mod">
          <ac:chgData name="Rissa" userId="9ebf8891-a6d6-4481-9472-9e650503fffd" providerId="ADAL" clId="{5D07A7B2-636B-40ED-AC17-2036F8F373C8}" dt="2022-02-17T19:02:58.589" v="190" actId="1076"/>
          <ac:picMkLst>
            <pc:docMk/>
            <pc:sldMk cId="3294251022" sldId="257"/>
            <ac:picMk id="4" creationId="{FCE0DF8F-2759-4AFD-B4F6-8E519B1E596D}"/>
          </ac:picMkLst>
        </pc:picChg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3292015045" sldId="265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383789327" sldId="267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2716883962" sldId="268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252127857" sldId="270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836595702" sldId="271"/>
        </pc:sldMkLst>
      </pc:sldChg>
    </pc:docChg>
  </pc:docChgLst>
  <pc:docChgLst>
    <pc:chgData name="Rarick, Rissa" userId="9ebf8891-a6d6-4481-9472-9e650503fffd" providerId="ADAL" clId="{5D07A7B2-636B-40ED-AC17-2036F8F373C8}"/>
    <pc:docChg chg="modSld">
      <pc:chgData name="Rarick, Rissa" userId="9ebf8891-a6d6-4481-9472-9e650503fffd" providerId="ADAL" clId="{5D07A7B2-636B-40ED-AC17-2036F8F373C8}" dt="2022-02-28T21:56:53.682" v="39" actId="1076"/>
      <pc:docMkLst>
        <pc:docMk/>
      </pc:docMkLst>
      <pc:sldChg chg="modSp mod">
        <pc:chgData name="Rarick, Rissa" userId="9ebf8891-a6d6-4481-9472-9e650503fffd" providerId="ADAL" clId="{5D07A7B2-636B-40ED-AC17-2036F8F373C8}" dt="2022-02-28T21:55:55.141" v="1" actId="20577"/>
        <pc:sldMkLst>
          <pc:docMk/>
          <pc:sldMk cId="3389330716" sldId="259"/>
        </pc:sldMkLst>
        <pc:spChg chg="mod">
          <ac:chgData name="Rarick, Rissa" userId="9ebf8891-a6d6-4481-9472-9e650503fffd" providerId="ADAL" clId="{5D07A7B2-636B-40ED-AC17-2036F8F373C8}" dt="2022-02-28T21:55:55.141" v="1" actId="20577"/>
          <ac:spMkLst>
            <pc:docMk/>
            <pc:sldMk cId="3389330716" sldId="259"/>
            <ac:spMk id="3" creationId="{1C6885D3-9A8C-473B-B36E-F73F78630C10}"/>
          </ac:spMkLst>
        </pc:spChg>
      </pc:sldChg>
      <pc:sldChg chg="modSp mod">
        <pc:chgData name="Rarick, Rissa" userId="9ebf8891-a6d6-4481-9472-9e650503fffd" providerId="ADAL" clId="{5D07A7B2-636B-40ED-AC17-2036F8F373C8}" dt="2022-02-28T21:56:43.938" v="38" actId="20577"/>
        <pc:sldMkLst>
          <pc:docMk/>
          <pc:sldMk cId="1050320677" sldId="266"/>
        </pc:sldMkLst>
        <pc:spChg chg="mod">
          <ac:chgData name="Rarick, Rissa" userId="9ebf8891-a6d6-4481-9472-9e650503fffd" providerId="ADAL" clId="{5D07A7B2-636B-40ED-AC17-2036F8F373C8}" dt="2022-02-28T21:56:43.938" v="38" actId="20577"/>
          <ac:spMkLst>
            <pc:docMk/>
            <pc:sldMk cId="1050320677" sldId="266"/>
            <ac:spMk id="3" creationId="{259F001E-A503-4F11-92AB-A7D84A8F1F11}"/>
          </ac:spMkLst>
        </pc:spChg>
      </pc:sldChg>
      <pc:sldChg chg="modSp mod">
        <pc:chgData name="Rarick, Rissa" userId="9ebf8891-a6d6-4481-9472-9e650503fffd" providerId="ADAL" clId="{5D07A7B2-636B-40ED-AC17-2036F8F373C8}" dt="2022-02-28T21:56:19.865" v="5" actId="20577"/>
        <pc:sldMkLst>
          <pc:docMk/>
          <pc:sldMk cId="720908885" sldId="268"/>
        </pc:sldMkLst>
        <pc:spChg chg="mod">
          <ac:chgData name="Rarick, Rissa" userId="9ebf8891-a6d6-4481-9472-9e650503fffd" providerId="ADAL" clId="{5D07A7B2-636B-40ED-AC17-2036F8F373C8}" dt="2022-02-28T21:56:19.865" v="5" actId="20577"/>
          <ac:spMkLst>
            <pc:docMk/>
            <pc:sldMk cId="720908885" sldId="268"/>
            <ac:spMk id="3" creationId="{9A550407-586F-435D-844F-B1EA5A220C07}"/>
          </ac:spMkLst>
        </pc:spChg>
      </pc:sldChg>
      <pc:sldChg chg="modSp mod">
        <pc:chgData name="Rarick, Rissa" userId="9ebf8891-a6d6-4481-9472-9e650503fffd" providerId="ADAL" clId="{5D07A7B2-636B-40ED-AC17-2036F8F373C8}" dt="2022-02-28T21:56:53.682" v="39" actId="1076"/>
        <pc:sldMkLst>
          <pc:docMk/>
          <pc:sldMk cId="2451846690" sldId="269"/>
        </pc:sldMkLst>
        <pc:spChg chg="mod">
          <ac:chgData name="Rarick, Rissa" userId="9ebf8891-a6d6-4481-9472-9e650503fffd" providerId="ADAL" clId="{5D07A7B2-636B-40ED-AC17-2036F8F373C8}" dt="2022-02-28T21:56:53.682" v="39" actId="1076"/>
          <ac:spMkLst>
            <pc:docMk/>
            <pc:sldMk cId="2451846690" sldId="269"/>
            <ac:spMk id="3" creationId="{9E115D88-9B10-44BF-8BBA-FFE63AB8BE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822A-1CD8-4F8C-AAD6-72022493A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E64EC-531D-49C6-B01F-5D13164CC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38844-A5A0-45B0-B294-D5F109FA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FF873-0B3D-436A-8EE8-BC0BB71F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C713-CB9B-44C5-9689-BC37C748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B339-1C5B-420D-9028-B94012AE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7803-C08D-43C2-9980-ED5769A7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C1E9-6104-4E07-BA64-6A7FCD7A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9E8F-58E7-4AEA-A8F2-58C01444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89FA-AADD-4FD9-BB7C-129EF35E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4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B8ED-655B-42D7-9FA9-26305A8B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CD40A-0DAE-454C-8709-43D732D9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84F3-481A-4673-A816-39EE01F9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19FB3-10B7-4818-B037-DC751963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01E7B-5863-48D0-BB68-F02116DF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0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7D5E-8A54-468C-82B1-D9ACE4A1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5DA97-56ED-4076-9C9C-D184D23C7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57C06-4B6D-4893-921C-BEB82F124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80006-961E-4AFC-AC1E-E72F0EED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8A10D-79B0-42EA-83C2-DBC4D97B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4B8D6-8C86-4117-88F0-722C0210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4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A2D5-E8E2-4E14-AADD-B19D7505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8DDF-927B-4BE0-8CDA-58FCFB00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41FEC-33B2-4461-BABF-CF13B7539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66BB5-2F12-4596-9095-F6430E13E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CCE0A-2D49-4EDA-84ED-43F2EC181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8CA74-E56F-470F-B521-637DCD1D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68AB1-3198-49D2-93C1-CDDEB936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7562-68CA-4E17-9AF7-F3D0B047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F973-1198-4962-AC0B-64C25448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7B0C0-5DB0-4F6C-A5C2-6F1CDEF1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772D0-EEFC-4087-A2DB-680D83F7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1E9CA-ADAC-4C3E-AC55-3205D363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9609C-B052-4FC2-BB4A-71D83DF2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7ED05-C756-41B4-B831-467B0598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D119-3683-46C3-A2BF-98543448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6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544-143E-4220-A71E-57CE2175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5BEF-B28C-4814-B5EA-4091BFF1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F0756-9DD4-434F-B6F9-D85DEDE5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5DA15-6B71-4ABD-94FB-A369FCA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4BE3-C8BD-4F8D-BA5B-A411CA4C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CE26C-3787-4539-9DA1-339D97FB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0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43F7-1C9F-4509-B701-9BE620010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FE174-33DA-4281-B548-545EC889B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7D54D-E2E2-4CC7-9374-FD727FA7F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FC7CF-9937-423A-905F-1762B624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B0BDC-2F9C-49AE-B4FB-E8607C2B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79EF1-2D55-4F12-A975-3E3169EF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5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AF21-3804-4936-B19D-655EF5DB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1E70-7FB3-4245-BDB5-312DF686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67E3-70F2-4E56-999E-CC9A9165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C9379-C058-482B-8126-320A5D55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D25B-7DB2-4E62-9002-A4A52765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4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DC631-4187-47DA-B181-FEC1242DB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439F-15C4-467E-890B-9AAAD45A1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A48C-C048-41DC-BC50-EFE7823E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2A41-B643-4078-99FE-5F319117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BF863-6CE8-459F-B974-70A55467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9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B89F8-6BAD-4AF7-A57C-C366EAD7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15B3-168A-429A-8C3A-5614F3EB2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0933B-3BAA-4B9F-B1DF-1DA260724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7DEC6-7C8E-4E7B-8D66-1B998A561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54161-7B90-4F22-9D9B-D9A0B707E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7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anthem.com/display/TA/How+to+Monitor+the+CLMU+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8C1BCA-247F-4480-B78C-924FEBA5C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C39BC-6E5C-4553-BC37-9AFB4E587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4655" y="993913"/>
            <a:ext cx="4013877" cy="4021637"/>
          </a:xfrm>
        </p:spPr>
        <p:txBody>
          <a:bodyPr>
            <a:normAutofit/>
          </a:bodyPr>
          <a:lstStyle/>
          <a:p>
            <a:pPr algn="l"/>
            <a:r>
              <a:rPr lang="en-US" sz="6200"/>
              <a:t>Monitoring the CLMU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9B1BB-10DE-4FD9-9BF3-1A1AECE88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4" y="5015551"/>
            <a:ext cx="4013872" cy="1069441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COPS Training Part 5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8E37057-BDB6-4452-836A-27973D54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71106" cy="4631426"/>
          </a:xfrm>
          <a:custGeom>
            <a:avLst/>
            <a:gdLst>
              <a:gd name="connsiteX0" fmla="*/ 0 w 5471106"/>
              <a:gd name="connsiteY0" fmla="*/ 3301451 h 4631426"/>
              <a:gd name="connsiteX1" fmla="*/ 125703 w 5471106"/>
              <a:gd name="connsiteY1" fmla="*/ 3469551 h 4631426"/>
              <a:gd name="connsiteX2" fmla="*/ 584138 w 5471106"/>
              <a:gd name="connsiteY2" fmla="*/ 3917166 h 4631426"/>
              <a:gd name="connsiteX3" fmla="*/ 716463 w 5471106"/>
              <a:gd name="connsiteY3" fmla="*/ 4010064 h 4631426"/>
              <a:gd name="connsiteX4" fmla="*/ 705202 w 5471106"/>
              <a:gd name="connsiteY4" fmla="*/ 4016176 h 4631426"/>
              <a:gd name="connsiteX5" fmla="*/ 671370 w 5471106"/>
              <a:gd name="connsiteY5" fmla="*/ 4044091 h 4631426"/>
              <a:gd name="connsiteX6" fmla="*/ 656526 w 5471106"/>
              <a:gd name="connsiteY6" fmla="*/ 4066106 h 4631426"/>
              <a:gd name="connsiteX7" fmla="*/ 534490 w 5471106"/>
              <a:gd name="connsiteY7" fmla="*/ 3980431 h 4631426"/>
              <a:gd name="connsiteX8" fmla="*/ 63650 w 5471106"/>
              <a:gd name="connsiteY8" fmla="*/ 3520703 h 4631426"/>
              <a:gd name="connsiteX9" fmla="*/ 0 w 5471106"/>
              <a:gd name="connsiteY9" fmla="*/ 3435586 h 4631426"/>
              <a:gd name="connsiteX10" fmla="*/ 4933182 w 5471106"/>
              <a:gd name="connsiteY10" fmla="*/ 0 h 4631426"/>
              <a:gd name="connsiteX11" fmla="*/ 5027180 w 5471106"/>
              <a:gd name="connsiteY11" fmla="*/ 0 h 4631426"/>
              <a:gd name="connsiteX12" fmla="*/ 5102720 w 5471106"/>
              <a:gd name="connsiteY12" fmla="*/ 124342 h 4631426"/>
              <a:gd name="connsiteX13" fmla="*/ 5471106 w 5471106"/>
              <a:gd name="connsiteY13" fmla="*/ 1579210 h 4631426"/>
              <a:gd name="connsiteX14" fmla="*/ 2418889 w 5471106"/>
              <a:gd name="connsiteY14" fmla="*/ 4631426 h 4631426"/>
              <a:gd name="connsiteX15" fmla="*/ 1095627 w 5471106"/>
              <a:gd name="connsiteY15" fmla="*/ 4330445 h 4631426"/>
              <a:gd name="connsiteX16" fmla="*/ 1039194 w 5471106"/>
              <a:gd name="connsiteY16" fmla="*/ 4301325 h 4631426"/>
              <a:gd name="connsiteX17" fmla="*/ 1043650 w 5471106"/>
              <a:gd name="connsiteY17" fmla="*/ 4294717 h 4631426"/>
              <a:gd name="connsiteX18" fmla="*/ 1056970 w 5471106"/>
              <a:gd name="connsiteY18" fmla="*/ 4251806 h 4631426"/>
              <a:gd name="connsiteX19" fmla="*/ 1060016 w 5471106"/>
              <a:gd name="connsiteY19" fmla="*/ 4221593 h 4631426"/>
              <a:gd name="connsiteX20" fmla="*/ 1130491 w 5471106"/>
              <a:gd name="connsiteY20" fmla="*/ 4257958 h 4631426"/>
              <a:gd name="connsiteX21" fmla="*/ 2418889 w 5471106"/>
              <a:gd name="connsiteY21" fmla="*/ 4551009 h 4631426"/>
              <a:gd name="connsiteX22" fmla="*/ 5390689 w 5471106"/>
              <a:gd name="connsiteY22" fmla="*/ 1579210 h 4631426"/>
              <a:gd name="connsiteX23" fmla="*/ 5032009 w 5471106"/>
              <a:gd name="connsiteY23" fmla="*/ 162673 h 463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71106" h="4631426">
                <a:moveTo>
                  <a:pt x="0" y="3301451"/>
                </a:moveTo>
                <a:lnTo>
                  <a:pt x="125703" y="3469551"/>
                </a:lnTo>
                <a:cubicBezTo>
                  <a:pt x="261971" y="3634670"/>
                  <a:pt x="415728" y="3784820"/>
                  <a:pt x="584138" y="3917166"/>
                </a:cubicBezTo>
                <a:lnTo>
                  <a:pt x="716463" y="4010064"/>
                </a:lnTo>
                <a:lnTo>
                  <a:pt x="705202" y="4016176"/>
                </a:lnTo>
                <a:cubicBezTo>
                  <a:pt x="693040" y="4024393"/>
                  <a:pt x="681712" y="4033748"/>
                  <a:pt x="671370" y="4044091"/>
                </a:cubicBezTo>
                <a:lnTo>
                  <a:pt x="656526" y="4066106"/>
                </a:lnTo>
                <a:lnTo>
                  <a:pt x="534490" y="3980431"/>
                </a:lnTo>
                <a:cubicBezTo>
                  <a:pt x="361523" y="3844503"/>
                  <a:pt x="203605" y="3690290"/>
                  <a:pt x="63650" y="3520703"/>
                </a:cubicBezTo>
                <a:lnTo>
                  <a:pt x="0" y="3435586"/>
                </a:lnTo>
                <a:close/>
                <a:moveTo>
                  <a:pt x="4933182" y="0"/>
                </a:moveTo>
                <a:lnTo>
                  <a:pt x="5027180" y="0"/>
                </a:lnTo>
                <a:lnTo>
                  <a:pt x="5102720" y="124342"/>
                </a:lnTo>
                <a:cubicBezTo>
                  <a:pt x="5337656" y="556821"/>
                  <a:pt x="5471106" y="1052431"/>
                  <a:pt x="5471106" y="1579210"/>
                </a:cubicBezTo>
                <a:cubicBezTo>
                  <a:pt x="5471106" y="3264903"/>
                  <a:pt x="4104582" y="4631426"/>
                  <a:pt x="2418889" y="4631426"/>
                </a:cubicBezTo>
                <a:cubicBezTo>
                  <a:pt x="1944788" y="4631426"/>
                  <a:pt x="1495934" y="4523332"/>
                  <a:pt x="1095627" y="4330445"/>
                </a:cubicBezTo>
                <a:lnTo>
                  <a:pt x="1039194" y="4301325"/>
                </a:lnTo>
                <a:lnTo>
                  <a:pt x="1043650" y="4294717"/>
                </a:lnTo>
                <a:cubicBezTo>
                  <a:pt x="1049433" y="4281042"/>
                  <a:pt x="1053925" y="4266687"/>
                  <a:pt x="1056970" y="4251806"/>
                </a:cubicBezTo>
                <a:lnTo>
                  <a:pt x="1060016" y="4221593"/>
                </a:lnTo>
                <a:lnTo>
                  <a:pt x="1130491" y="4257958"/>
                </a:lnTo>
                <a:cubicBezTo>
                  <a:pt x="1520251" y="4445763"/>
                  <a:pt x="1957279" y="4551009"/>
                  <a:pt x="2418889" y="4551009"/>
                </a:cubicBezTo>
                <a:cubicBezTo>
                  <a:pt x="4060169" y="4551009"/>
                  <a:pt x="5390689" y="3220490"/>
                  <a:pt x="5390689" y="1579210"/>
                </a:cubicBezTo>
                <a:cubicBezTo>
                  <a:pt x="5390689" y="1066310"/>
                  <a:pt x="5260755" y="583758"/>
                  <a:pt x="5032009" y="1626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1A3A707-72D6-4BAB-8187-F8204F4ED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8530" y="1774620"/>
            <a:ext cx="3780042" cy="3780042"/>
          </a:xfrm>
          <a:custGeom>
            <a:avLst/>
            <a:gdLst>
              <a:gd name="connsiteX0" fmla="*/ 2054781 w 4109561"/>
              <a:gd name="connsiteY0" fmla="*/ 0 h 4109561"/>
              <a:gd name="connsiteX1" fmla="*/ 4109561 w 4109561"/>
              <a:gd name="connsiteY1" fmla="*/ 2054781 h 4109561"/>
              <a:gd name="connsiteX2" fmla="*/ 2054781 w 4109561"/>
              <a:gd name="connsiteY2" fmla="*/ 4109561 h 4109561"/>
              <a:gd name="connsiteX3" fmla="*/ 0 w 4109561"/>
              <a:gd name="connsiteY3" fmla="*/ 2054781 h 4109561"/>
              <a:gd name="connsiteX4" fmla="*/ 2054781 w 4109561"/>
              <a:gd name="connsiteY4" fmla="*/ 0 h 410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9561" h="4109561">
                <a:moveTo>
                  <a:pt x="2054781" y="0"/>
                </a:moveTo>
                <a:cubicBezTo>
                  <a:pt x="3189605" y="0"/>
                  <a:pt x="4109561" y="919957"/>
                  <a:pt x="4109561" y="2054781"/>
                </a:cubicBezTo>
                <a:cubicBezTo>
                  <a:pt x="4109561" y="3189605"/>
                  <a:pt x="3189605" y="4109561"/>
                  <a:pt x="2054781" y="4109561"/>
                </a:cubicBezTo>
                <a:cubicBezTo>
                  <a:pt x="919957" y="4109561"/>
                  <a:pt x="0" y="3189605"/>
                  <a:pt x="0" y="2054781"/>
                </a:cubicBezTo>
                <a:cubicBezTo>
                  <a:pt x="0" y="919957"/>
                  <a:pt x="919957" y="0"/>
                  <a:pt x="2054781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83411D-901F-4574-9926-33415AA92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3450" y="1713004"/>
            <a:ext cx="365760" cy="3657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2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4D7E-574D-49BB-B1A2-A5E29A77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142F-6DE3-4249-BE26-103E62C15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C3897-9D35-418B-A8FD-1A862E4B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" y="0"/>
            <a:ext cx="12151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8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D838-A27A-4705-9305-E6CF7119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CLMU and XC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85D3-9A8C-473B-B36E-F73F78630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XC Loads</a:t>
            </a:r>
          </a:p>
          <a:p>
            <a:pPr lvl="1"/>
            <a:r>
              <a:rPr lang="en-US" dirty="0"/>
              <a:t>CLA002</a:t>
            </a:r>
          </a:p>
          <a:p>
            <a:pPr lvl="1"/>
            <a:r>
              <a:rPr lang="en-US" dirty="0"/>
              <a:t>CLA002B Step 10</a:t>
            </a:r>
          </a:p>
          <a:p>
            <a:pPr lvl="1"/>
            <a:r>
              <a:rPr lang="en-US" dirty="0"/>
              <a:t>CLA004A</a:t>
            </a:r>
          </a:p>
          <a:p>
            <a:r>
              <a:rPr lang="en-US" dirty="0"/>
              <a:t>2 CLMU Loads</a:t>
            </a:r>
          </a:p>
          <a:p>
            <a:pPr lvl="1"/>
            <a:r>
              <a:rPr lang="en-US" dirty="0"/>
              <a:t>CLA002B Step 20- The Primary</a:t>
            </a:r>
          </a:p>
          <a:p>
            <a:pPr lvl="1"/>
            <a:r>
              <a:rPr lang="en-US" dirty="0"/>
              <a:t>CLA005 Step 10 – The Cleanup</a:t>
            </a:r>
          </a:p>
          <a:p>
            <a:pPr lvl="1"/>
            <a:r>
              <a:rPr lang="en-US" dirty="0"/>
              <a:t>CLA015 Step 10 – The Weekend Cleanup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F4CBC-FC22-4850-A7BC-AE030DD6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78" y="382587"/>
            <a:ext cx="6187108" cy="13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3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4922-A9C3-4F97-8460-6FFA29B8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68B7-68FB-4381-8755-6829E5A2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XC load kicks off at 1:30PM</a:t>
            </a:r>
          </a:p>
          <a:p>
            <a:r>
              <a:rPr lang="en-US" dirty="0"/>
              <a:t>CLA002</a:t>
            </a:r>
          </a:p>
          <a:p>
            <a:r>
              <a:rPr lang="en-US" dirty="0"/>
              <a:t>This moves keywords that have been generated up until 1:30PM from PEGA to the FACETS_XC staging table </a:t>
            </a:r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Facets_XC</a:t>
            </a:r>
            <a:r>
              <a:rPr lang="en-US" dirty="0"/>
              <a:t>, so we need keywords to be generated, but it does not stop claim loading or keyword generation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0DF8F-2759-4AFD-B4F6-8E519B1E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16" y="365125"/>
            <a:ext cx="8912983" cy="9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5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78CC-6E03-42C0-8707-E82842A4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CLA002B_0010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8294-DB54-493A-8779-54AAAD090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XC load starts at 2:30PM</a:t>
            </a:r>
          </a:p>
          <a:p>
            <a:r>
              <a:rPr lang="en-US" dirty="0"/>
              <a:t>CLA002B Step 10</a:t>
            </a:r>
          </a:p>
          <a:p>
            <a:r>
              <a:rPr lang="en-US" dirty="0"/>
              <a:t>This moves keywords that have been generated since the 1:30PM XC load until 2:30PM from PEGA to the FACETS_XC staging table </a:t>
            </a:r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Facets_XC</a:t>
            </a:r>
            <a:r>
              <a:rPr lang="en-US" dirty="0"/>
              <a:t>, so we need keywords to be generated, but it does not stop claim loading or keyword generation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E1FF2-B025-4E05-80E7-984D76EDF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28"/>
          <a:stretch/>
        </p:blipFill>
        <p:spPr>
          <a:xfrm>
            <a:off x="4480515" y="601524"/>
            <a:ext cx="7548472" cy="7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96D0-ABC1-45E0-AD8D-542392AD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CLA002B_0020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0049-7482-4912-90A1-0A4608A7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CLMU load – The Primary – starts after the second XC load completes</a:t>
            </a:r>
          </a:p>
          <a:p>
            <a:r>
              <a:rPr lang="en-US" dirty="0"/>
              <a:t>This loads the new day claims from </a:t>
            </a:r>
            <a:r>
              <a:rPr lang="en-US" dirty="0" err="1"/>
              <a:t>Facets_XC</a:t>
            </a:r>
            <a:r>
              <a:rPr lang="en-US" dirty="0"/>
              <a:t> into </a:t>
            </a:r>
            <a:r>
              <a:rPr lang="en-US" dirty="0" err="1"/>
              <a:t>GBD_Facets</a:t>
            </a:r>
            <a:endParaRPr lang="en-US" dirty="0"/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GBD_Facets</a:t>
            </a:r>
            <a:r>
              <a:rPr lang="en-US" dirty="0"/>
              <a:t>, so we need keywords to be generated, but it does not stop claim loading or keyword generation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BFD66-1FED-4FAA-A83D-9AEA13E9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47" y="681037"/>
            <a:ext cx="7817953" cy="7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0454-0E17-4C1F-96A6-8A4B23FF8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CLA004A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1604-8A97-4A0B-A42C-6C02CD213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 XC load starts after 7:30PM and after the Primary and CLA303Y have completed</a:t>
            </a:r>
          </a:p>
          <a:p>
            <a:r>
              <a:rPr lang="en-US" dirty="0"/>
              <a:t>This loads the last of the keywords for the day (created since the 2:30PM run up until this job starts) from PEGA to </a:t>
            </a:r>
            <a:r>
              <a:rPr lang="en-US" dirty="0" err="1"/>
              <a:t>Facets_XC</a:t>
            </a:r>
            <a:endParaRPr lang="en-US" dirty="0"/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By this point, the keyword generation is done (it must be done before CLA303Y starts) since this is the last load to </a:t>
            </a:r>
            <a:r>
              <a:rPr lang="en-US" dirty="0" err="1"/>
              <a:t>Facets_XC</a:t>
            </a:r>
            <a:r>
              <a:rPr lang="en-US" dirty="0"/>
              <a:t> of the day</a:t>
            </a:r>
          </a:p>
          <a:p>
            <a:pPr lvl="1"/>
            <a:r>
              <a:rPr lang="en-US" dirty="0"/>
              <a:t>If keywords are done, claims loading is also done</a:t>
            </a:r>
          </a:p>
          <a:p>
            <a:pPr lvl="1"/>
            <a:r>
              <a:rPr lang="en-US" dirty="0"/>
              <a:t>This does not stop claims loading or keyword generation, but they should be done before this starts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1CCD7-7E26-4E33-A51F-828964078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608" y="518318"/>
            <a:ext cx="84105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9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FB88-166D-4C89-9F75-C3D408AD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1224-8255-4A4F-BA71-470DC3D84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CLMU Load –the Cleanup- starts after the final XC load</a:t>
            </a:r>
          </a:p>
          <a:p>
            <a:r>
              <a:rPr lang="en-US" dirty="0"/>
              <a:t>This loads the keywords from </a:t>
            </a:r>
            <a:r>
              <a:rPr lang="en-US" dirty="0" err="1"/>
              <a:t>Facets_XC</a:t>
            </a:r>
            <a:r>
              <a:rPr lang="en-US" dirty="0"/>
              <a:t> into </a:t>
            </a:r>
            <a:r>
              <a:rPr lang="en-US" dirty="0" err="1"/>
              <a:t>GBD_Facets</a:t>
            </a:r>
            <a:endParaRPr lang="en-US" dirty="0"/>
          </a:p>
          <a:p>
            <a:r>
              <a:rPr lang="en-US" dirty="0"/>
              <a:t>This also attempts to load older claims into </a:t>
            </a:r>
            <a:r>
              <a:rPr lang="en-US" dirty="0" err="1"/>
              <a:t>GBD_Facets</a:t>
            </a:r>
            <a:r>
              <a:rPr lang="en-US" dirty="0"/>
              <a:t>, not just new day claims</a:t>
            </a:r>
          </a:p>
          <a:p>
            <a:r>
              <a:rPr lang="en-US" dirty="0"/>
              <a:t>CLA005 Step 10 runs the cleanup load</a:t>
            </a:r>
          </a:p>
          <a:p>
            <a:r>
              <a:rPr lang="en-US" dirty="0"/>
              <a:t>Step 10 cannot run past 12:30AM, so CLA009 can start with enough time to meet SLA. If it does, it will need to be killed. </a:t>
            </a:r>
          </a:p>
          <a:p>
            <a:pPr lvl="1"/>
            <a:r>
              <a:rPr lang="en-US" dirty="0"/>
              <a:t>We will be alerted by CLA101X failure if the Cleanup is still running at 12:15AM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012C3-0B87-4F1A-A73C-788C7DC24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425" y="61735"/>
            <a:ext cx="5311843" cy="16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256A-8C0E-4F44-816B-32BFA481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0407-586F-435D-844F-B1EA5A220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weekend cleanup</a:t>
            </a:r>
          </a:p>
          <a:p>
            <a:r>
              <a:rPr lang="en-US" dirty="0"/>
              <a:t>The only CLMU that runs on Saturday or Sunday</a:t>
            </a:r>
          </a:p>
          <a:p>
            <a:r>
              <a:rPr lang="en-US" dirty="0"/>
              <a:t>Scheduled to start at 7PM on Saturday and Sunday</a:t>
            </a:r>
          </a:p>
          <a:p>
            <a:r>
              <a:rPr lang="en-US" dirty="0"/>
              <a:t>On Saturday, runs after CLA009, so does not need to be killed by 12:30AM</a:t>
            </a:r>
          </a:p>
          <a:p>
            <a:r>
              <a:rPr lang="en-US" dirty="0"/>
              <a:t>On Sunday, runs before CLA009, so needs to be killed by 12:30AM</a:t>
            </a:r>
          </a:p>
          <a:p>
            <a:r>
              <a:rPr lang="en-US" dirty="0"/>
              <a:t>Cannot run during maintenance, so the run schedule may change depending on maintenance for the weekend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335D5-CE91-4205-9ABE-A6724824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973" y="207819"/>
            <a:ext cx="6170543" cy="211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0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9341-0A6E-4873-A6F9-DDEAE2A3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monitor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4DC3-004E-431E-A8BA-C249AEF8A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monitor the CLMU Loads 3 ways (YOU SHOULD USE ALL 3):</a:t>
            </a:r>
          </a:p>
          <a:p>
            <a:pPr lvl="1"/>
            <a:r>
              <a:rPr lang="en-US" dirty="0"/>
              <a:t>A query run in SQL Developer</a:t>
            </a:r>
          </a:p>
          <a:p>
            <a:pPr lvl="1"/>
            <a:r>
              <a:rPr lang="en-US" dirty="0"/>
              <a:t>Going to the log file for the current run: \\va01pstodfs003.corp.agp.ads\apps\Facets\Prod\TZG\Logs\GBFAC01P and checking the logs</a:t>
            </a:r>
          </a:p>
          <a:p>
            <a:pPr lvl="1"/>
            <a:r>
              <a:rPr lang="en-US" dirty="0"/>
              <a:t>Checking the job in Tidal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127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C068-AB96-4689-84A5-87404DD7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SQL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82D11-DE92-41ED-A653-1A69248FF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1700"/>
              <a:t>Open SQL Developer and connect to FAC1P</a:t>
            </a:r>
          </a:p>
          <a:p>
            <a:r>
              <a:rPr lang="en-US" sz="1700"/>
              <a:t>Put in the following query and run it</a:t>
            </a:r>
          </a:p>
          <a:p>
            <a:pPr lvl="1"/>
            <a:r>
              <a:rPr lang="en-US" sz="1700"/>
              <a:t>SELECT COUNT(1), CLCL_CUR_STS</a:t>
            </a:r>
            <a:br>
              <a:rPr lang="en-US" sz="1700"/>
            </a:br>
            <a:r>
              <a:rPr lang="en-US" sz="1700"/>
              <a:t>FROM FACETS_XC.CMC_CLCL_CLAIM</a:t>
            </a:r>
            <a:br>
              <a:rPr lang="en-US" sz="1700"/>
            </a:br>
            <a:r>
              <a:rPr lang="en-US" sz="1700"/>
              <a:t>WHERE CLCL_CL_TYPE &lt;&gt; 'E' --AND CLCL_ID LIKE 'H%'</a:t>
            </a:r>
            <a:br>
              <a:rPr lang="en-US" sz="1700"/>
            </a:br>
            <a:r>
              <a:rPr lang="en-US" sz="1700"/>
              <a:t>GROUP BY CLCL_CUR_STS</a:t>
            </a:r>
            <a:br>
              <a:rPr lang="en-US" sz="1700"/>
            </a:br>
            <a:r>
              <a:rPr lang="en-US" sz="1700"/>
              <a:t>ORDER BY CLCL_CUR_STS;</a:t>
            </a:r>
          </a:p>
          <a:p>
            <a:endParaRPr lang="en-US" sz="1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755FF-CB9C-43F0-ABD5-D0CDC9BC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704344"/>
            <a:ext cx="6019331" cy="344606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5565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1B69-0623-4225-85D7-C1F937BC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SQL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F001E-A503-4F11-92AB-A7D84A8F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The results will have 2 columns: Count and CLCL_CUR_STS (Status)</a:t>
            </a:r>
          </a:p>
          <a:p>
            <a:r>
              <a:rPr lang="en-US" sz="1400" dirty="0"/>
              <a:t>There are 3 different statuses, each with a different meaning:</a:t>
            </a:r>
          </a:p>
          <a:p>
            <a:pPr lvl="1"/>
            <a:r>
              <a:rPr lang="en-US" sz="1400" dirty="0"/>
              <a:t>16: indicates the number of keywords loaded to </a:t>
            </a:r>
            <a:r>
              <a:rPr lang="en-US" sz="1400" dirty="0" err="1"/>
              <a:t>Facets_XC</a:t>
            </a:r>
            <a:r>
              <a:rPr lang="en-US" sz="1400" dirty="0"/>
              <a:t> that have not been filtered to GBD Facets</a:t>
            </a:r>
          </a:p>
          <a:p>
            <a:pPr lvl="1"/>
            <a:r>
              <a:rPr lang="en-US" sz="1400" dirty="0"/>
              <a:t>15: indicates the number of keywords that are in </a:t>
            </a:r>
            <a:r>
              <a:rPr lang="en-US" sz="1400" dirty="0" err="1"/>
              <a:t>Facets_XC</a:t>
            </a:r>
            <a:r>
              <a:rPr lang="en-US" sz="1400" dirty="0"/>
              <a:t> that have attempted to move to GBD Facets but were unable to for some reason</a:t>
            </a:r>
          </a:p>
          <a:p>
            <a:pPr lvl="1"/>
            <a:r>
              <a:rPr lang="en-US" sz="1400" dirty="0"/>
              <a:t>99: indicates the number of keywords successfully loaded to GBD Facets</a:t>
            </a:r>
          </a:p>
          <a:p>
            <a:r>
              <a:rPr lang="en-US" sz="1400" dirty="0"/>
              <a:t>Monitoring the XC Loads: </a:t>
            </a:r>
          </a:p>
          <a:p>
            <a:pPr lvl="1"/>
            <a:r>
              <a:rPr lang="en-US" sz="1400" dirty="0"/>
              <a:t>Status 16 should be increasing</a:t>
            </a:r>
          </a:p>
          <a:p>
            <a:pPr lvl="1"/>
            <a:r>
              <a:rPr lang="en-US" sz="1400" dirty="0"/>
              <a:t>Status 99 should do nothing</a:t>
            </a:r>
          </a:p>
          <a:p>
            <a:r>
              <a:rPr lang="en-US" sz="1400" dirty="0"/>
              <a:t>Monitoring the CLMU Load/Cleanup:</a:t>
            </a:r>
          </a:p>
          <a:p>
            <a:pPr lvl="1"/>
            <a:r>
              <a:rPr lang="en-US" sz="1400" dirty="0"/>
              <a:t>Status 16 Count should go down</a:t>
            </a:r>
          </a:p>
          <a:p>
            <a:pPr lvl="1"/>
            <a:r>
              <a:rPr lang="en-US" sz="1400" dirty="0"/>
              <a:t>Status 99 Count should go up</a:t>
            </a:r>
          </a:p>
          <a:p>
            <a:pPr lvl="1"/>
            <a:r>
              <a:rPr lang="en-US" sz="1400" dirty="0"/>
              <a:t>Should see a difference in numbers every refresh</a:t>
            </a:r>
          </a:p>
          <a:p>
            <a:r>
              <a:rPr lang="en-US" sz="1400" dirty="0"/>
              <a:t>At the end, there may be Counts left in 16 (~300 or lower is the usual). That’s okay. As long as the counts have gone up for 99 and gone down significantly for 16, we're fine. </a:t>
            </a:r>
          </a:p>
          <a:p>
            <a:r>
              <a:rPr lang="en-US" sz="1400" dirty="0"/>
              <a:t>Step 30 of the cleanup jobs delete the 99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EB640-91B6-4D83-9D52-8EE59D94E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4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37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320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E1778-3F84-458B-AA37-59BD3339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8AB4-1C58-4ADB-B2C8-6883E531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en-US" sz="1700"/>
              <a:t>Go to the following file path and sort by Date Modified: \\va01pstodfs003.corp.agp.ads\apps\Facets\Prod\TZG\Logs\GBFAC01P</a:t>
            </a:r>
          </a:p>
          <a:p>
            <a:r>
              <a:rPr lang="en-US" sz="1700"/>
              <a:t>Go to the time that the CLMU Load step started in Tidal (step 20 for CLA002B, step 10 for CLA005/CLA015).</a:t>
            </a:r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D8291-595A-47A2-A7AD-467E23312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65" y="2421924"/>
            <a:ext cx="4353251" cy="3711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F3DED-93F1-4073-9D67-3EA3038B6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61" y="2421924"/>
            <a:ext cx="4353251" cy="37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62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BDDD9-4955-4535-B12F-82EA451A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5D88-9B10-44BF-8BBA-FFE63AB8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6" y="2257299"/>
            <a:ext cx="4080880" cy="3546801"/>
          </a:xfrm>
        </p:spPr>
        <p:txBody>
          <a:bodyPr>
            <a:normAutofit/>
          </a:bodyPr>
          <a:lstStyle/>
          <a:p>
            <a:r>
              <a:rPr lang="en-US" sz="2000" dirty="0"/>
              <a:t>Once you select the right folder (primary or cleanup), then select log, then sort by Date Modified</a:t>
            </a:r>
          </a:p>
          <a:p>
            <a:r>
              <a:rPr lang="en-US" sz="2000" dirty="0"/>
              <a:t>Log files should be generated at least every minute, if not more frequently</a:t>
            </a:r>
          </a:p>
          <a:p>
            <a:r>
              <a:rPr lang="en-US" sz="2000" dirty="0"/>
              <a:t>When logs don’t generate for 30 minutes, call the COPS on call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E0BA8-A810-4656-8AD6-139D7E3DC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78" b="2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51846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A1E85-3F8C-42ED-A84B-4B495A94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F446-EBF2-41FB-A989-D2D6B6BEA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9" y="2630161"/>
            <a:ext cx="4080880" cy="3546801"/>
          </a:xfrm>
        </p:spPr>
        <p:txBody>
          <a:bodyPr>
            <a:normAutofit/>
          </a:bodyPr>
          <a:lstStyle/>
          <a:p>
            <a:r>
              <a:rPr lang="en-US" sz="2000" dirty="0"/>
              <a:t>When the job is close to completing, files beginning with SQL will populate</a:t>
            </a:r>
          </a:p>
          <a:p>
            <a:r>
              <a:rPr lang="en-US" sz="2000" dirty="0"/>
              <a:t>This typically means the job will complete in 30-45 minutes</a:t>
            </a:r>
          </a:p>
          <a:p>
            <a:r>
              <a:rPr lang="en-US" sz="2000" dirty="0"/>
              <a:t>The query will not move at this point. Status 16 and 99 will stay as they are</a:t>
            </a:r>
          </a:p>
          <a:p>
            <a:r>
              <a:rPr lang="en-US" sz="2000" dirty="0"/>
              <a:t>The last file to populate will be a .</a:t>
            </a:r>
            <a:r>
              <a:rPr lang="en-US" sz="2000" dirty="0" err="1"/>
              <a:t>jcl</a:t>
            </a:r>
            <a:r>
              <a:rPr lang="en-US" sz="2000" dirty="0"/>
              <a:t> file (it won’t be the only .</a:t>
            </a:r>
            <a:r>
              <a:rPr lang="en-US" sz="2000" dirty="0" err="1"/>
              <a:t>jcl</a:t>
            </a:r>
            <a:r>
              <a:rPr lang="en-US" sz="2000" dirty="0"/>
              <a:t> file to populate)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F64AA-2072-4FD3-B6E4-F402A49E58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788" b="2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9767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C5096-A93E-4D59-858F-1E972D47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Tidal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15CEC-DC4D-4662-B07F-E8F394F06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7" y="2242534"/>
            <a:ext cx="4080880" cy="3546801"/>
          </a:xfrm>
        </p:spPr>
        <p:txBody>
          <a:bodyPr>
            <a:normAutofit/>
          </a:bodyPr>
          <a:lstStyle/>
          <a:p>
            <a:r>
              <a:rPr lang="en-US" sz="1900" dirty="0"/>
              <a:t>Least effective method to monitor the progress of the primary and cleanup</a:t>
            </a:r>
          </a:p>
          <a:p>
            <a:r>
              <a:rPr lang="en-US" sz="1900" dirty="0"/>
              <a:t>Effective to monitor for the XC loads so we know when to start the monitoring for the primary and cleanup</a:t>
            </a:r>
          </a:p>
          <a:p>
            <a:r>
              <a:rPr lang="en-US" sz="1900" dirty="0"/>
              <a:t>Remember the primary is step 20 of CLA002B and the cleanup is step 10 of CLA005 (or CLA015 on weekends). </a:t>
            </a:r>
          </a:p>
          <a:p>
            <a:pPr lvl="1"/>
            <a:r>
              <a:rPr lang="en-US" sz="1900" dirty="0"/>
              <a:t>WHEN THE STEPS ARE DONE, THE PRIMARY/CLEANUP IS DONE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97FA4-EBFF-4537-A4CD-AEFA61C4BE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6" r="11836" b="3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17632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7B32-95E4-4E4D-B1D5-571444AC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8EBA-FF07-4204-A10C-837FA987B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this information is also located on confluence here: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https://confluence.anthem.com/display/TA/How+to+Monitor+the+CLMU+Load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4003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10150</TotalTime>
  <Words>1169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Monitoring the CLMU</vt:lpstr>
      <vt:lpstr>PowerPoint Presentation</vt:lpstr>
      <vt:lpstr>CLMU and XC Loads</vt:lpstr>
      <vt:lpstr>CLA002</vt:lpstr>
      <vt:lpstr>CLA002B_0010</vt:lpstr>
      <vt:lpstr>CLA002B_0020</vt:lpstr>
      <vt:lpstr>CLA004A</vt:lpstr>
      <vt:lpstr>CLA005</vt:lpstr>
      <vt:lpstr>CLA015</vt:lpstr>
      <vt:lpstr>How to monitor this?</vt:lpstr>
      <vt:lpstr>SQL Developer</vt:lpstr>
      <vt:lpstr>SQL Developer</vt:lpstr>
      <vt:lpstr>Log Files</vt:lpstr>
      <vt:lpstr>Log Files</vt:lpstr>
      <vt:lpstr>Log Files</vt:lpstr>
      <vt:lpstr>Tidal</vt:lpstr>
      <vt:lpstr>Confluence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Rarick, Rissa</dc:creator>
  <cp:lastModifiedBy>Rarick, Rissa</cp:lastModifiedBy>
  <cp:revision>10</cp:revision>
  <dcterms:created xsi:type="dcterms:W3CDTF">2022-02-01T21:24:56Z</dcterms:created>
  <dcterms:modified xsi:type="dcterms:W3CDTF">2022-02-28T21:56:55Z</dcterms:modified>
</cp:coreProperties>
</file>